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01010"/>
                </a:solidFill>
                <a:latin typeface="Arial"/>
              </a:rPr>
              <a:t>Momentum Across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606060"/>
                </a:solidFill>
                <a:latin typeface="Arial"/>
              </a:rPr>
              <a:t>A regime-conditioned cross-sectional momentum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06060"/>
                </a:solidFill>
                <a:latin typeface="Arial"/>
              </a:rPr>
              <a:t>call with Gadi 29.5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01010"/>
                </a:solidFill>
                <a:latin typeface="Arial"/>
              </a:rPr>
              <a:t>innovation in methodology — model flexibility and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legacy top 10% momentum, adjusting horizon weight or exposure according to market conditions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ability to select any momentum level — maybe best to select the ones that crashed the hardest?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simple probability indicator (market drawdown level)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smart regime probability indicator (based on HMM)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01010"/>
                </a:solidFill>
                <a:latin typeface="Arial"/>
              </a:rPr>
              <a:t>innovation in methodology — model flexibility and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legacy top 10% momentum, adjusting horizon weight or exposure according to market conditions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1B7A1B"/>
                </a:solidFill>
                <a:latin typeface="Arial"/>
              </a:rPr>
              <a:t>•  ability to select any momentum level — maybe best to select the ones that crashed the hardest?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simple probability indicator (market drawdown level)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smart regime probability indicator (based on HMM)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01010"/>
                </a:solidFill>
                <a:latin typeface="Arial"/>
              </a:rPr>
              <a:t>innovation in methodology — model flexibility and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legacy top 10% momentum, adjusting horizon weight or exposure according to market conditions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1B7A1B"/>
                </a:solidFill>
                <a:latin typeface="Arial"/>
              </a:rPr>
              <a:t>•  ability to select any momentum level — maybe best to select the ones that crashed the hardest?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simple probability indicator (market drawdown level)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FFFFFF"/>
                </a:solidFill>
                <a:latin typeface="Arial"/>
              </a:rPr>
              <a:t>•  smart regime probability indicator (based on HMM)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101010"/>
                </a:solidFill>
                <a:latin typeface="Arial"/>
              </a:rPr>
              <a:t>innovation in methodology — model flexibility and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legacy top 10% momentum, adjusting horizon weight or exposure according to market conditions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1B7A1B"/>
                </a:solidFill>
                <a:latin typeface="Arial"/>
              </a:rPr>
              <a:t>•  ability to select any momentum level — maybe best to select the ones that crashed the hardest?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CC0000"/>
                </a:solidFill>
                <a:latin typeface="Arial"/>
              </a:rPr>
              <a:t>•  simple probability indicator (market drawdown level)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1B7A1B"/>
                </a:solidFill>
                <a:latin typeface="Arial"/>
              </a:rPr>
              <a:t>•  smart regime probability indicator (based on HMM)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101010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  <a:latin typeface="Arial"/>
              </a:rPr>
              <a:t>HMM regime classifier + 12-month return horizons per stock → XGBoost ensemble → long–short portfolio</a:t>
            </a:r>
          </a:p>
        </p:txBody>
      </p:sp>
      <p:pic>
        <p:nvPicPr>
          <p:cNvPr id="4" name="Picture 3" descr="markov_chai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03120"/>
            <a:ext cx="5381563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01010"/>
                </a:solidFill>
                <a:latin typeface="Arial"/>
              </a:rPr>
              <a:t>main results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  <a:latin typeface="Arial"/>
              </a:rPr>
              <a:t>XGB (mom + π) Sharpe 1.11   |   FF6 α 24.7% (t = 4.78)   |   final $15.7 from $1 (2011–2025)</a:t>
            </a:r>
          </a:p>
        </p:txBody>
      </p:sp>
      <p:pic>
        <p:nvPicPr>
          <p:cNvPr id="4" name="Picture 3" descr="cs_performance_regime_sh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20240"/>
            <a:ext cx="8869680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01010"/>
                </a:solidFill>
                <a:latin typeface="Arial"/>
              </a:rPr>
              <a:t>regime conditioning is the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6060"/>
                </a:solidFill>
                <a:latin typeface="Arial"/>
              </a:rPr>
              <a:t>the model earns its keep where legacy momentum dies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1680" y="219456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606060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606060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606060"/>
                          </a:solidFill>
                          <a:latin typeface="Arial"/>
                        </a:rPr>
                        <a:t>Calm (n=108)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606060"/>
                          </a:solidFill>
                          <a:latin typeface="Arial"/>
                        </a:rPr>
                        <a:t>Panic (n=59)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Fixed 12-mo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LR (linear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01010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01010"/>
                          </a:solidFill>
                          <a:latin typeface="Arial"/>
                        </a:rPr>
                        <a:t>XGB (mom + 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01010"/>
                          </a:solidFill>
                          <a:latin typeface="Arial"/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01010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01010"/>
                          </a:solidFill>
                          <a:latin typeface="Arial"/>
                        </a:rPr>
                        <a:t>1.56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B7A1B"/>
                </a:solidFill>
                <a:latin typeface="Arial"/>
              </a:rPr>
              <a:t>Panic Sharpe (1.56) ≈ 2× Calm Sharpe (0.82). The conditioning is doing the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101010"/>
                </a:solidFill>
                <a:latin typeface="Arial"/>
              </a:rP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in calm, invest in the stock with good momentum in most horizons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in panic, invest in stocks that have underperformed (buying the dip)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the risk here is sustained crash if there is no short rebound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6060"/>
                </a:solidFill>
                <a:latin typeface="Arial"/>
              </a:rPr>
              <a:t>panic decomposes: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4480560"/>
          <a:ext cx="7223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5544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06060"/>
                          </a:solidFill>
                          <a:latin typeface="Arial"/>
                        </a:rPr>
                        <a:t>Sub-type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06060"/>
                          </a:solidFill>
                          <a:latin typeface="Arial"/>
                        </a:rPr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06060"/>
                          </a:solidFill>
                          <a:latin typeface="Arial"/>
                        </a:rPr>
                        <a:t>Ann 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06060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Calm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Panic — Crash (mkt down)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-7.2%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-0.33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Panic — Recovery (mkt 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+64.4%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01010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06060"/>
                </a:solidFill>
                <a:latin typeface="Arial"/>
              </a:rPr>
              <a:t>panic Sharpe is driven entirely by recovery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01010"/>
                </a:solidFill>
                <a:latin typeface="Arial"/>
              </a:rPr>
              <a:t>open questions for Gadi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how to hedge the sustained-crash tail — short rebound never arrives?</a:t>
            </a:r>
          </a:p>
          <a:p>
            <a:pPr>
              <a:spcAft>
                <a:spcPts val="22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which momentum level to pick in panic — the worst crashers, or something risk-adjusted?</a:t>
            </a:r>
          </a:p>
          <a:p>
            <a:pPr>
              <a:spcAft>
                <a:spcPts val="22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is the HMM regime probability stable enough to trade on at month boundaries?</a:t>
            </a:r>
          </a:p>
          <a:p>
            <a:pPr>
              <a:spcAft>
                <a:spcPts val="2200"/>
              </a:spcAft>
            </a:pPr>
            <a:r>
              <a:rPr sz="2200">
                <a:solidFill>
                  <a:srgbClr val="101010"/>
                </a:solidFill>
                <a:latin typeface="Arial"/>
              </a:rPr>
              <a:t>•  international replication (UK / JP panels) — does the regime signal port?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